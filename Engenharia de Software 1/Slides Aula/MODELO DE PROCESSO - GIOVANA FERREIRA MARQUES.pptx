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2" r:id="rId5"/>
    <p:sldId id="259" r:id="rId6"/>
    <p:sldId id="260" r:id="rId7"/>
    <p:sldId id="261" r:id="rId8"/>
    <p:sldId id="263" r:id="rId9"/>
    <p:sldId id="264" r:id="rId1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9" d="100"/>
          <a:sy n="89" d="100"/>
        </p:scale>
        <p:origin x="6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pt-BR" smtClean="0"/>
              <a:t>Clique para editar o título mestre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smtClean="0"/>
              <a:t>Clique para editar o estilo do subtítulo Mestre</a:t>
            </a:r>
            <a:endParaRPr lang="en-US" dirty="0"/>
          </a:p>
        </p:txBody>
      </p:sp>
      <p:sp>
        <p:nvSpPr>
          <p:cNvPr id="4" name="Date Placeholder 3"/>
          <p:cNvSpPr>
            <a:spLocks noGrp="1"/>
          </p:cNvSpPr>
          <p:nvPr>
            <p:ph type="dt" sz="half" idx="10"/>
          </p:nvPr>
        </p:nvSpPr>
        <p:spPr/>
        <p:txBody>
          <a:bodyPr/>
          <a:lstStyle/>
          <a:p>
            <a:fld id="{180724F6-CC1F-4A93-A79F-0F3FCFE0CE81}" type="datetimeFigureOut">
              <a:rPr lang="pt-BR" smtClean="0"/>
              <a:t>10/08/2022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D1BA2C8-316F-4E21-88C9-881A09405FCC}" type="slidenum">
              <a:rPr lang="pt-BR" smtClean="0"/>
              <a:t>‹nº›</a:t>
            </a:fld>
            <a:endParaRPr lang="pt-BR"/>
          </a:p>
        </p:txBody>
      </p:sp>
    </p:spTree>
    <p:extLst>
      <p:ext uri="{BB962C8B-B14F-4D97-AF65-F5344CB8AC3E}">
        <p14:creationId xmlns:p14="http://schemas.microsoft.com/office/powerpoint/2010/main" val="2997843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Content Placeholder 2"/>
          <p:cNvSpPr>
            <a:spLocks noGrp="1"/>
          </p:cNvSpPr>
          <p:nvPr>
            <p:ph idx="1"/>
          </p:nvPr>
        </p:nvSpPr>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180724F6-CC1F-4A93-A79F-0F3FCFE0CE81}" type="datetimeFigureOut">
              <a:rPr lang="pt-BR" smtClean="0"/>
              <a:t>10/08/2022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2538214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pt-BR" smtClean="0"/>
              <a:t>Clique para editar o título mestre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Editar estilos de texto Mestre</a:t>
            </a:r>
          </a:p>
        </p:txBody>
      </p:sp>
      <p:sp>
        <p:nvSpPr>
          <p:cNvPr id="4" name="Date Placeholder 3"/>
          <p:cNvSpPr>
            <a:spLocks noGrp="1"/>
          </p:cNvSpPr>
          <p:nvPr>
            <p:ph type="dt" sz="half" idx="10"/>
          </p:nvPr>
        </p:nvSpPr>
        <p:spPr>
          <a:xfrm>
            <a:off x="8593667" y="6272784"/>
            <a:ext cx="2644309" cy="365125"/>
          </a:xfrm>
        </p:spPr>
        <p:txBody>
          <a:bodyPr/>
          <a:lstStyle/>
          <a:p>
            <a:fld id="{180724F6-CC1F-4A93-A79F-0F3FCFE0CE81}" type="datetimeFigureOut">
              <a:rPr lang="pt-BR" smtClean="0"/>
              <a:t>10/08/2022</a:t>
            </a:fld>
            <a:endParaRPr lang="pt-BR"/>
          </a:p>
        </p:txBody>
      </p:sp>
      <p:sp>
        <p:nvSpPr>
          <p:cNvPr id="5" name="Footer Placeholder 4"/>
          <p:cNvSpPr>
            <a:spLocks noGrp="1"/>
          </p:cNvSpPr>
          <p:nvPr>
            <p:ph type="ftr" sz="quarter" idx="11"/>
          </p:nvPr>
        </p:nvSpPr>
        <p:spPr>
          <a:xfrm>
            <a:off x="2182708" y="6272784"/>
            <a:ext cx="6327648" cy="365125"/>
          </a:xfrm>
        </p:spPr>
        <p:txBody>
          <a:bodyPr/>
          <a:lstStyle/>
          <a:p>
            <a:endParaRPr lang="pt-B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D1BA2C8-316F-4E21-88C9-881A09405FCC}" type="slidenum">
              <a:rPr lang="pt-BR" smtClean="0"/>
              <a:t>‹nº›</a:t>
            </a:fld>
            <a:endParaRPr lang="pt-BR"/>
          </a:p>
        </p:txBody>
      </p:sp>
    </p:spTree>
    <p:extLst>
      <p:ext uri="{BB962C8B-B14F-4D97-AF65-F5344CB8AC3E}">
        <p14:creationId xmlns:p14="http://schemas.microsoft.com/office/powerpoint/2010/main" val="72636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Date Placeholder 4"/>
          <p:cNvSpPr>
            <a:spLocks noGrp="1"/>
          </p:cNvSpPr>
          <p:nvPr>
            <p:ph type="dt" sz="half" idx="10"/>
          </p:nvPr>
        </p:nvSpPr>
        <p:spPr/>
        <p:txBody>
          <a:bodyPr/>
          <a:lstStyle/>
          <a:p>
            <a:fld id="{180724F6-CC1F-4A93-A79F-0F3FCFE0CE81}" type="datetimeFigureOut">
              <a:rPr lang="pt-BR" smtClean="0"/>
              <a:t>10/08/2022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3675509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smtClean="0"/>
              <a:t>Clique para editar o título mestre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fld id="{180724F6-CC1F-4A93-A79F-0F3FCFE0CE81}" type="datetimeFigureOut">
              <a:rPr lang="pt-BR" smtClean="0"/>
              <a:t>10/08/2022</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154285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pt-BR" smtClean="0"/>
              <a:t>Clique para editar o título mestre</a:t>
            </a:r>
            <a:endParaRPr lang="en-US" dirty="0"/>
          </a:p>
        </p:txBody>
      </p:sp>
      <p:sp>
        <p:nvSpPr>
          <p:cNvPr id="3" name="Date Placeholder 2"/>
          <p:cNvSpPr>
            <a:spLocks noGrp="1"/>
          </p:cNvSpPr>
          <p:nvPr>
            <p:ph type="dt" sz="half" idx="10"/>
          </p:nvPr>
        </p:nvSpPr>
        <p:spPr/>
        <p:txBody>
          <a:bodyPr/>
          <a:lstStyle/>
          <a:p>
            <a:fld id="{180724F6-CC1F-4A93-A79F-0F3FCFE0CE81}" type="datetimeFigureOut">
              <a:rPr lang="pt-BR" smtClean="0"/>
              <a:t>10/08/2022</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3326172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0724F6-CC1F-4A93-A79F-0F3FCFE0CE81}" type="datetimeFigureOut">
              <a:rPr lang="pt-BR" smtClean="0"/>
              <a:t>10/08/2022</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177433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smtClean="0"/>
              <a:t>Clique para editar o título mestre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180724F6-CC1F-4A93-A79F-0F3FCFE0CE81}" type="datetimeFigureOut">
              <a:rPr lang="pt-BR" smtClean="0"/>
              <a:t>10/08/2022</a:t>
            </a:fld>
            <a:endParaRPr lang="pt-BR"/>
          </a:p>
        </p:txBody>
      </p:sp>
      <p:sp>
        <p:nvSpPr>
          <p:cNvPr id="6" name="Footer Placeholder 5"/>
          <p:cNvSpPr>
            <a:spLocks noGrp="1"/>
          </p:cNvSpPr>
          <p:nvPr>
            <p:ph type="ftr" sz="quarter" idx="11"/>
          </p:nvPr>
        </p:nvSpPr>
        <p:spPr/>
        <p:txBody>
          <a:bodyPr/>
          <a:lstStyle/>
          <a:p>
            <a:endParaRPr lang="pt-B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4078578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180724F6-CC1F-4A93-A79F-0F3FCFE0CE81}" type="datetimeFigureOut">
              <a:rPr lang="pt-BR" smtClean="0"/>
              <a:t>10/08/2022</a:t>
            </a:fld>
            <a:endParaRPr lang="pt-B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3730942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180724F6-CC1F-4A93-A79F-0F3FCFE0CE81}" type="datetimeFigureOut">
              <a:rPr lang="pt-BR" smtClean="0"/>
              <a:t>10/08/2022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2252197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pt-BR" smtClean="0"/>
              <a:t>Clique para editar o título mestre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180724F6-CC1F-4A93-A79F-0F3FCFE0CE81}" type="datetimeFigureOut">
              <a:rPr lang="pt-BR" smtClean="0"/>
              <a:t>10/08/2022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D1BA2C8-316F-4E21-88C9-881A09405FCC}" type="slidenum">
              <a:rPr lang="pt-BR" smtClean="0"/>
              <a:t>‹nº›</a:t>
            </a:fld>
            <a:endParaRPr lang="pt-BR"/>
          </a:p>
        </p:txBody>
      </p:sp>
    </p:spTree>
    <p:extLst>
      <p:ext uri="{BB962C8B-B14F-4D97-AF65-F5344CB8AC3E}">
        <p14:creationId xmlns:p14="http://schemas.microsoft.com/office/powerpoint/2010/main" val="4013442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80724F6-CC1F-4A93-A79F-0F3FCFE0CE81}" type="datetimeFigureOut">
              <a:rPr lang="pt-BR" smtClean="0"/>
              <a:t>10/08/2022</a:t>
            </a:fld>
            <a:endParaRPr lang="pt-B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pt-B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D1BA2C8-316F-4E21-88C9-881A09405FCC}" type="slidenum">
              <a:rPr lang="pt-BR" smtClean="0"/>
              <a:t>‹nº›</a:t>
            </a:fld>
            <a:endParaRPr lang="pt-BR"/>
          </a:p>
        </p:txBody>
      </p:sp>
    </p:spTree>
    <p:extLst>
      <p:ext uri="{BB962C8B-B14F-4D97-AF65-F5344CB8AC3E}">
        <p14:creationId xmlns:p14="http://schemas.microsoft.com/office/powerpoint/2010/main" val="11442239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385396" y="573700"/>
            <a:ext cx="12570373" cy="1870349"/>
          </a:xfrm>
        </p:spPr>
        <p:txBody>
          <a:bodyPr>
            <a:normAutofit/>
          </a:bodyPr>
          <a:lstStyle/>
          <a:p>
            <a:pPr algn="l"/>
            <a:r>
              <a:rPr lang="pt-BR" sz="6000" b="1" dirty="0" smtClean="0">
                <a:effectLst>
                  <a:outerShdw blurRad="38100" dist="38100" dir="2700000" algn="tl">
                    <a:srgbClr val="000000">
                      <a:alpha val="43137"/>
                    </a:srgbClr>
                  </a:outerShdw>
                </a:effectLst>
                <a:latin typeface="Bahnschrift" panose="020B0502040204020203" pitchFamily="34" charset="0"/>
              </a:rPr>
              <a:t>MODELO DE PROCESSO </a:t>
            </a:r>
            <a:br>
              <a:rPr lang="pt-BR" sz="6000" b="1" dirty="0" smtClean="0">
                <a:effectLst>
                  <a:outerShdw blurRad="38100" dist="38100" dir="2700000" algn="tl">
                    <a:srgbClr val="000000">
                      <a:alpha val="43137"/>
                    </a:srgbClr>
                  </a:outerShdw>
                </a:effectLst>
                <a:latin typeface="Bahnschrift" panose="020B0502040204020203" pitchFamily="34" charset="0"/>
              </a:rPr>
            </a:br>
            <a:r>
              <a:rPr lang="pt-BR" sz="6000" b="1" dirty="0" smtClean="0">
                <a:effectLst>
                  <a:outerShdw blurRad="38100" dist="38100" dir="2700000" algn="tl">
                    <a:srgbClr val="000000">
                      <a:alpha val="43137"/>
                    </a:srgbClr>
                  </a:outerShdw>
                </a:effectLst>
                <a:latin typeface="Bahnschrift" panose="020B0502040204020203" pitchFamily="34" charset="0"/>
              </a:rPr>
              <a:t>PRESCRITIVO</a:t>
            </a:r>
            <a:endParaRPr lang="pt-BR" sz="6000" b="1" dirty="0">
              <a:effectLst>
                <a:outerShdw blurRad="38100" dist="38100" dir="2700000" algn="tl">
                  <a:srgbClr val="000000">
                    <a:alpha val="43137"/>
                  </a:srgbClr>
                </a:outerShdw>
              </a:effectLst>
              <a:latin typeface="Bahnschrift" panose="020B0502040204020203" pitchFamily="34" charset="0"/>
            </a:endParaRPr>
          </a:p>
        </p:txBody>
      </p:sp>
      <p:cxnSp>
        <p:nvCxnSpPr>
          <p:cNvPr id="6" name="Conector reto 5"/>
          <p:cNvCxnSpPr/>
          <p:nvPr/>
        </p:nvCxnSpPr>
        <p:spPr>
          <a:xfrm flipV="1">
            <a:off x="1198179" y="3132083"/>
            <a:ext cx="9680028" cy="63062"/>
          </a:xfrm>
          <a:prstGeom prst="line">
            <a:avLst/>
          </a:prstGeom>
        </p:spPr>
        <p:style>
          <a:lnRef idx="3">
            <a:schemeClr val="dk1"/>
          </a:lnRef>
          <a:fillRef idx="0">
            <a:schemeClr val="dk1"/>
          </a:fillRef>
          <a:effectRef idx="2">
            <a:schemeClr val="dk1"/>
          </a:effectRef>
          <a:fontRef idx="minor">
            <a:schemeClr val="tx1"/>
          </a:fontRef>
        </p:style>
      </p:cxnSp>
      <p:sp>
        <p:nvSpPr>
          <p:cNvPr id="7" name="Retângulo 6"/>
          <p:cNvSpPr/>
          <p:nvPr/>
        </p:nvSpPr>
        <p:spPr>
          <a:xfrm>
            <a:off x="2280621" y="336578"/>
            <a:ext cx="9577273" cy="2243959"/>
          </a:xfrm>
          <a:prstGeom prst="rect">
            <a:avLst/>
          </a:prstGeom>
          <a:noFill/>
          <a:ln w="9525" cap="flat" cmpd="sng" algn="ctr">
            <a:solidFill>
              <a:schemeClr val="dk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pt-BR"/>
          </a:p>
        </p:txBody>
      </p:sp>
      <p:sp>
        <p:nvSpPr>
          <p:cNvPr id="9" name="Seta em Curva para a Direita 8"/>
          <p:cNvSpPr/>
          <p:nvPr/>
        </p:nvSpPr>
        <p:spPr>
          <a:xfrm rot="2558663">
            <a:off x="319649" y="1183022"/>
            <a:ext cx="1071374" cy="2218284"/>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solidFill>
                <a:schemeClr val="tx1"/>
              </a:solidFill>
            </a:endParaRPr>
          </a:p>
        </p:txBody>
      </p:sp>
      <p:sp>
        <p:nvSpPr>
          <p:cNvPr id="10" name="Seta em Curva para a Direita 9"/>
          <p:cNvSpPr/>
          <p:nvPr/>
        </p:nvSpPr>
        <p:spPr>
          <a:xfrm rot="12971010">
            <a:off x="10743605" y="2890402"/>
            <a:ext cx="1071374" cy="2218284"/>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a:solidFill>
                <a:schemeClr val="tx1"/>
              </a:solidFill>
            </a:endParaRPr>
          </a:p>
        </p:txBody>
      </p:sp>
      <p:sp>
        <p:nvSpPr>
          <p:cNvPr id="12" name="Título 1"/>
          <p:cNvSpPr txBox="1">
            <a:spLocks/>
          </p:cNvSpPr>
          <p:nvPr/>
        </p:nvSpPr>
        <p:spPr>
          <a:xfrm>
            <a:off x="1389529" y="3963740"/>
            <a:ext cx="12570373" cy="1870349"/>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9600" kern="1200" cap="all" baseline="0">
                <a:blipFill dpi="0" rotWithShape="1">
                  <a:blip r:embed="rId2"/>
                  <a:srcRect/>
                  <a:tile tx="6350" ty="-127000" sx="65000" sy="64000" flip="none" algn="tl"/>
                </a:blipFill>
                <a:latin typeface="+mj-lt"/>
                <a:ea typeface="+mj-ea"/>
                <a:cs typeface="+mj-cs"/>
              </a:defRPr>
            </a:lvl1pPr>
          </a:lstStyle>
          <a:p>
            <a:r>
              <a:rPr lang="pt-BR" sz="6000" b="1" dirty="0" smtClean="0">
                <a:effectLst>
                  <a:outerShdw blurRad="38100" dist="38100" dir="2700000" algn="tl">
                    <a:srgbClr val="000000">
                      <a:alpha val="43137"/>
                    </a:srgbClr>
                  </a:outerShdw>
                </a:effectLst>
                <a:latin typeface="Bahnschrift" panose="020B0502040204020203" pitchFamily="34" charset="0"/>
              </a:rPr>
              <a:t>MODELO DE </a:t>
            </a:r>
            <a:r>
              <a:rPr lang="pt-BR" sz="6000" b="1" dirty="0" err="1" smtClean="0">
                <a:effectLst>
                  <a:outerShdw blurRad="38100" dist="38100" dir="2700000" algn="tl">
                    <a:srgbClr val="000000">
                      <a:alpha val="43137"/>
                    </a:srgbClr>
                  </a:outerShdw>
                </a:effectLst>
                <a:latin typeface="Bahnschrift" panose="020B0502040204020203" pitchFamily="34" charset="0"/>
              </a:rPr>
              <a:t>cASCATA</a:t>
            </a:r>
            <a:endParaRPr lang="pt-BR" sz="6000" b="1" dirty="0">
              <a:effectLst>
                <a:outerShdw blurRad="38100" dist="38100" dir="2700000" algn="tl">
                  <a:srgbClr val="000000">
                    <a:alpha val="43137"/>
                  </a:srgbClr>
                </a:outerShdw>
              </a:effectLst>
              <a:latin typeface="Bahnschrift" panose="020B0502040204020203" pitchFamily="34" charset="0"/>
            </a:endParaRPr>
          </a:p>
        </p:txBody>
      </p:sp>
      <p:sp>
        <p:nvSpPr>
          <p:cNvPr id="13" name="Retângulo 12"/>
          <p:cNvSpPr/>
          <p:nvPr/>
        </p:nvSpPr>
        <p:spPr>
          <a:xfrm>
            <a:off x="507403" y="3730779"/>
            <a:ext cx="9577273" cy="2243959"/>
          </a:xfrm>
          <a:prstGeom prst="rect">
            <a:avLst/>
          </a:prstGeom>
          <a:noFill/>
          <a:ln w="9525" cap="flat" cmpd="sng" algn="ctr">
            <a:solidFill>
              <a:schemeClr val="dk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5040645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latin typeface="+mn-lt"/>
              </a:rPr>
              <a:t>O que seria modelo de processo prescritivo?</a:t>
            </a:r>
            <a:endParaRPr lang="pt-BR" b="1" dirty="0">
              <a:latin typeface="+mn-lt"/>
            </a:endParaRPr>
          </a:p>
        </p:txBody>
      </p:sp>
      <p:sp>
        <p:nvSpPr>
          <p:cNvPr id="3" name="Espaço Reservado para Conteúdo 2"/>
          <p:cNvSpPr>
            <a:spLocks noGrp="1"/>
          </p:cNvSpPr>
          <p:nvPr>
            <p:ph idx="1"/>
          </p:nvPr>
        </p:nvSpPr>
        <p:spPr>
          <a:xfrm>
            <a:off x="1069848" y="2279064"/>
            <a:ext cx="10058400" cy="4050792"/>
          </a:xfrm>
        </p:spPr>
        <p:txBody>
          <a:bodyPr>
            <a:noAutofit/>
          </a:bodyPr>
          <a:lstStyle/>
          <a:p>
            <a:r>
              <a:rPr lang="pt-BR" sz="2400" dirty="0" smtClean="0"/>
              <a:t>O processo de modelo foi criado com a principal função de concentrar-se em estruturar e ordenar o desenvolvimento do software.</a:t>
            </a:r>
          </a:p>
          <a:p>
            <a:r>
              <a:rPr lang="pt-BR" sz="2400" dirty="0" smtClean="0"/>
              <a:t>Processos com ênfase em controles de documentação.</a:t>
            </a:r>
          </a:p>
          <a:p>
            <a:r>
              <a:rPr lang="pt-BR" sz="2400" dirty="0" smtClean="0"/>
              <a:t>Voltados para equipes grandes e/ou dispersas.</a:t>
            </a:r>
          </a:p>
          <a:p>
            <a:r>
              <a:rPr lang="pt-BR" sz="2400" dirty="0" smtClean="0"/>
              <a:t>As atividades de tarefas ocorrem sequencialmente, com diretrizes de processos definidas ou seja; </a:t>
            </a:r>
            <a:r>
              <a:rPr lang="pt-BR" sz="2400" dirty="0"/>
              <a:t>Consistem em ter o maior número de </a:t>
            </a:r>
            <a:r>
              <a:rPr lang="pt-BR" sz="2400" dirty="0" smtClean="0"/>
              <a:t>possíveis </a:t>
            </a:r>
            <a:r>
              <a:rPr lang="pt-BR" sz="2400" dirty="0"/>
              <a:t>do software a ser implementado, para que se possa ter um </a:t>
            </a:r>
            <a:r>
              <a:rPr lang="pt-BR" sz="2400" dirty="0" smtClean="0"/>
              <a:t>domínio de informações </a:t>
            </a:r>
            <a:r>
              <a:rPr lang="pt-BR" sz="2400" dirty="0"/>
              <a:t>maior da aplicação e quais recursos estarão disponíveis na </a:t>
            </a:r>
            <a:r>
              <a:rPr lang="pt-BR" sz="2400" dirty="0" smtClean="0"/>
              <a:t>aplicação.</a:t>
            </a:r>
            <a:endParaRPr lang="pt-BR" sz="2400" dirty="0"/>
          </a:p>
        </p:txBody>
      </p:sp>
    </p:spTree>
    <p:extLst>
      <p:ext uri="{BB962C8B-B14F-4D97-AF65-F5344CB8AC3E}">
        <p14:creationId xmlns:p14="http://schemas.microsoft.com/office/powerpoint/2010/main" val="39990833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3421" y="346841"/>
            <a:ext cx="11876689" cy="2060028"/>
          </a:xfrm>
        </p:spPr>
        <p:txBody>
          <a:bodyPr>
            <a:normAutofit/>
          </a:bodyPr>
          <a:lstStyle/>
          <a:p>
            <a:pPr algn="ctr"/>
            <a:r>
              <a:rPr lang="pt-BR" sz="4400" b="1" dirty="0" smtClean="0"/>
              <a:t>Esses projetos são chamados de “prescritivos” porque estabelece um conjunto de elementos de processos como:</a:t>
            </a:r>
            <a:endParaRPr lang="pt-BR" b="1" dirty="0"/>
          </a:p>
        </p:txBody>
      </p:sp>
      <p:sp>
        <p:nvSpPr>
          <p:cNvPr id="3" name="Espaço Reservado para Conteúdo 2"/>
          <p:cNvSpPr>
            <a:spLocks noGrp="1"/>
          </p:cNvSpPr>
          <p:nvPr>
            <p:ph idx="1"/>
          </p:nvPr>
        </p:nvSpPr>
        <p:spPr>
          <a:xfrm>
            <a:off x="315311" y="2532992"/>
            <a:ext cx="11592910" cy="3752194"/>
          </a:xfrm>
        </p:spPr>
        <p:txBody>
          <a:bodyPr>
            <a:noAutofit/>
          </a:bodyPr>
          <a:lstStyle/>
          <a:p>
            <a:r>
              <a:rPr lang="pt-BR" sz="3200" dirty="0" smtClean="0"/>
              <a:t>Atividades metodológicas.</a:t>
            </a:r>
          </a:p>
          <a:p>
            <a:r>
              <a:rPr lang="pt-BR" sz="3200" dirty="0" smtClean="0"/>
              <a:t>Ações de engenharia de software.</a:t>
            </a:r>
          </a:p>
          <a:p>
            <a:r>
              <a:rPr lang="pt-BR" sz="3200" dirty="0" smtClean="0"/>
              <a:t>Tarefas e artefatos (</a:t>
            </a:r>
            <a:r>
              <a:rPr lang="pt-BR" sz="3200" dirty="0"/>
              <a:t>representam as entidades físicas em um sistema de </a:t>
            </a:r>
            <a:r>
              <a:rPr lang="pt-BR" sz="3200" dirty="0" smtClean="0"/>
              <a:t>software).</a:t>
            </a:r>
          </a:p>
          <a:p>
            <a:r>
              <a:rPr lang="pt-BR" sz="3200" dirty="0" smtClean="0"/>
              <a:t>Garantia da qualidade.</a:t>
            </a:r>
          </a:p>
          <a:p>
            <a:r>
              <a:rPr lang="pt-BR" sz="3200" dirty="0" smtClean="0"/>
              <a:t>Mecanismo de controle de mudanças para cada projeto.</a:t>
            </a:r>
            <a:endParaRPr lang="pt-BR" sz="3200" dirty="0"/>
          </a:p>
        </p:txBody>
      </p:sp>
    </p:spTree>
    <p:extLst>
      <p:ext uri="{BB962C8B-B14F-4D97-AF65-F5344CB8AC3E}">
        <p14:creationId xmlns:p14="http://schemas.microsoft.com/office/powerpoint/2010/main" val="716847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0110" y="347997"/>
            <a:ext cx="11414234" cy="1609344"/>
          </a:xfrm>
        </p:spPr>
        <p:txBody>
          <a:bodyPr>
            <a:noAutofit/>
          </a:bodyPr>
          <a:lstStyle/>
          <a:p>
            <a:r>
              <a:rPr lang="pt-BR" sz="6000" dirty="0" smtClean="0">
                <a:effectLst>
                  <a:outerShdw blurRad="38100" dist="38100" dir="2700000" algn="tl">
                    <a:srgbClr val="000000">
                      <a:alpha val="43137"/>
                    </a:srgbClr>
                  </a:outerShdw>
                </a:effectLst>
              </a:rPr>
              <a:t>Conjunto de modelos</a:t>
            </a:r>
            <a:r>
              <a:rPr lang="pt-BR" sz="6000" dirty="0">
                <a:effectLst>
                  <a:outerShdw blurRad="38100" dist="38100" dir="2700000" algn="tl">
                    <a:srgbClr val="000000">
                      <a:alpha val="43137"/>
                    </a:srgbClr>
                  </a:outerShdw>
                </a:effectLst>
              </a:rPr>
              <a:t> </a:t>
            </a:r>
            <a:r>
              <a:rPr lang="pt-BR" sz="6000" dirty="0" smtClean="0">
                <a:effectLst>
                  <a:outerShdw blurRad="38100" dist="38100" dir="2700000" algn="tl">
                    <a:srgbClr val="000000">
                      <a:alpha val="43137"/>
                    </a:srgbClr>
                  </a:outerShdw>
                </a:effectLst>
              </a:rPr>
              <a:t>prescritivos</a:t>
            </a:r>
            <a:endParaRPr lang="pt-BR" sz="6000"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620110" y="2121408"/>
            <a:ext cx="10508138" cy="4050792"/>
          </a:xfrm>
        </p:spPr>
        <p:txBody>
          <a:bodyPr>
            <a:normAutofit/>
          </a:bodyPr>
          <a:lstStyle/>
          <a:p>
            <a:pPr marL="0" indent="0">
              <a:buNone/>
            </a:pPr>
            <a:r>
              <a:rPr lang="pt-BR" sz="2400" dirty="0" smtClean="0"/>
              <a:t>O MODELO DE PROCESSO PRESCRITIVO TAMBÉM CONHECIDO COMO MODELOS DE PROCESSOS TRADICIONAIS, ESSA CADEIA DE CONJUTOS SÃO CONSTITUIDAS POR:</a:t>
            </a:r>
          </a:p>
          <a:p>
            <a:pPr marL="0" indent="0">
              <a:buNone/>
            </a:pPr>
            <a:endParaRPr lang="pt-BR" sz="2400" dirty="0"/>
          </a:p>
          <a:p>
            <a:r>
              <a:rPr lang="pt-BR" sz="2400" dirty="0"/>
              <a:t>MODELO CASCATA.</a:t>
            </a:r>
          </a:p>
          <a:p>
            <a:r>
              <a:rPr lang="pt-BR" sz="2400" dirty="0" smtClean="0"/>
              <a:t>MODELO INCREMENTAL.</a:t>
            </a:r>
          </a:p>
          <a:p>
            <a:r>
              <a:rPr lang="pt-BR" sz="2400" dirty="0" smtClean="0"/>
              <a:t>MODELO EVOLUCIONÁRIO.</a:t>
            </a:r>
          </a:p>
          <a:p>
            <a:r>
              <a:rPr lang="pt-BR" sz="2400" dirty="0" smtClean="0"/>
              <a:t>MODELO CONCORRENTE.</a:t>
            </a:r>
            <a:endParaRPr lang="pt-BR" sz="2400" dirty="0"/>
          </a:p>
        </p:txBody>
      </p:sp>
    </p:spTree>
    <p:extLst>
      <p:ext uri="{BB962C8B-B14F-4D97-AF65-F5344CB8AC3E}">
        <p14:creationId xmlns:p14="http://schemas.microsoft.com/office/powerpoint/2010/main" val="24637998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9111" y="196960"/>
            <a:ext cx="10515600" cy="1325563"/>
          </a:xfrm>
        </p:spPr>
        <p:txBody>
          <a:bodyPr>
            <a:normAutofit/>
          </a:bodyPr>
          <a:lstStyle/>
          <a:p>
            <a:r>
              <a:rPr lang="pt-BR" sz="5400" b="1" dirty="0" smtClean="0">
                <a:latin typeface="Bahnschrift" panose="020B0502040204020203" pitchFamily="34" charset="0"/>
              </a:rPr>
              <a:t>MODELO CASCATA</a:t>
            </a:r>
            <a:endParaRPr lang="pt-BR" sz="5400" b="1" dirty="0">
              <a:latin typeface="Bahnschrift" panose="020B0502040204020203" pitchFamily="34" charset="0"/>
            </a:endParaRPr>
          </a:p>
        </p:txBody>
      </p:sp>
      <p:pic>
        <p:nvPicPr>
          <p:cNvPr id="4" name="Espaço Reservado para Conteú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4528" y="1209775"/>
            <a:ext cx="10040007" cy="5648225"/>
          </a:xfrm>
        </p:spPr>
      </p:pic>
    </p:spTree>
    <p:extLst>
      <p:ext uri="{BB962C8B-B14F-4D97-AF65-F5344CB8AC3E}">
        <p14:creationId xmlns:p14="http://schemas.microsoft.com/office/powerpoint/2010/main" val="27714186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6276" y="293028"/>
            <a:ext cx="10058400" cy="1609344"/>
          </a:xfrm>
        </p:spPr>
        <p:txBody>
          <a:bodyPr>
            <a:normAutofit/>
          </a:bodyPr>
          <a:lstStyle/>
          <a:p>
            <a:r>
              <a:rPr lang="pt-BR" sz="6600" dirty="0" smtClean="0">
                <a:effectLst>
                  <a:outerShdw blurRad="38100" dist="38100" dir="2700000" algn="tl">
                    <a:srgbClr val="000000">
                      <a:alpha val="43137"/>
                    </a:srgbClr>
                  </a:outerShdw>
                </a:effectLst>
              </a:rPr>
              <a:t>O que seria o modelo cascata?</a:t>
            </a:r>
            <a:endParaRPr lang="pt-BR" sz="6600"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1069848" y="1902372"/>
            <a:ext cx="10628166" cy="5037083"/>
          </a:xfrm>
        </p:spPr>
        <p:txBody>
          <a:bodyPr>
            <a:noAutofit/>
          </a:bodyPr>
          <a:lstStyle/>
          <a:p>
            <a:r>
              <a:rPr lang="pt-BR" sz="2800" b="1" dirty="0"/>
              <a:t>O modelo </a:t>
            </a:r>
            <a:r>
              <a:rPr lang="pt-BR" sz="2800" b="1" dirty="0" smtClean="0"/>
              <a:t>cascata </a:t>
            </a:r>
            <a:r>
              <a:rPr lang="pt-BR" sz="2800" b="1" dirty="0"/>
              <a:t>também conhecido como processo </a:t>
            </a:r>
            <a:r>
              <a:rPr lang="pt-BR" sz="2800" b="1" dirty="0" err="1" smtClean="0"/>
              <a:t>Waterfall</a:t>
            </a:r>
            <a:r>
              <a:rPr lang="pt-BR" sz="2800" b="1" dirty="0" smtClean="0"/>
              <a:t> </a:t>
            </a:r>
            <a:r>
              <a:rPr lang="pt-BR" sz="2800" b="1" dirty="0"/>
              <a:t>é uma metodologia de desenvolvimento de software surgida na década de 1970. </a:t>
            </a:r>
            <a:endParaRPr lang="pt-BR" sz="2800" b="1" dirty="0" smtClean="0"/>
          </a:p>
          <a:p>
            <a:r>
              <a:rPr lang="pt-BR" sz="2800" b="1" dirty="0" smtClean="0"/>
              <a:t>Sua </a:t>
            </a:r>
            <a:r>
              <a:rPr lang="pt-BR" sz="2800" b="1" dirty="0"/>
              <a:t>principal característica é a divisão das tarefas em </a:t>
            </a:r>
            <a:r>
              <a:rPr lang="pt-BR" sz="2800" b="1" dirty="0" smtClean="0"/>
              <a:t>etapas predeterminadas</a:t>
            </a:r>
            <a:r>
              <a:rPr lang="pt-BR" sz="2800" b="1" dirty="0"/>
              <a:t>, que são executadas de forma sequencial</a:t>
            </a:r>
            <a:r>
              <a:rPr lang="pt-BR" sz="2800" b="1" dirty="0" smtClean="0"/>
              <a:t>.</a:t>
            </a:r>
          </a:p>
          <a:p>
            <a:r>
              <a:rPr lang="pt-BR" sz="2800" b="1" dirty="0"/>
              <a:t>Isso quer dizer que é preciso finalizar todas as tarefas de uma etapa para que seja possível passar para a </a:t>
            </a:r>
            <a:r>
              <a:rPr lang="pt-BR" sz="2800" b="1" dirty="0" smtClean="0"/>
              <a:t>seguinte, ao </a:t>
            </a:r>
            <a:r>
              <a:rPr lang="pt-BR" sz="2800" b="1" dirty="0"/>
              <a:t>cumprir todas as etapas, o resultado será um produto de software funcional, pronto para ser entregue ao cliente.</a:t>
            </a:r>
            <a:endParaRPr lang="pt-BR" sz="2800" dirty="0"/>
          </a:p>
        </p:txBody>
      </p:sp>
    </p:spTree>
    <p:extLst>
      <p:ext uri="{BB962C8B-B14F-4D97-AF65-F5344CB8AC3E}">
        <p14:creationId xmlns:p14="http://schemas.microsoft.com/office/powerpoint/2010/main" val="2903604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88579" y="240477"/>
            <a:ext cx="10058400" cy="1609344"/>
          </a:xfrm>
        </p:spPr>
        <p:txBody>
          <a:bodyPr>
            <a:normAutofit/>
          </a:bodyPr>
          <a:lstStyle/>
          <a:p>
            <a:r>
              <a:rPr lang="pt-BR" sz="6600" dirty="0" smtClean="0">
                <a:effectLst>
                  <a:outerShdw blurRad="38100" dist="38100" dir="2700000" algn="tl">
                    <a:srgbClr val="000000">
                      <a:alpha val="43137"/>
                    </a:srgbClr>
                  </a:outerShdw>
                </a:effectLst>
              </a:rPr>
              <a:t>QUANDO É UTILIZADO?</a:t>
            </a:r>
            <a:endParaRPr lang="pt-BR" sz="6600"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210208" y="1760483"/>
            <a:ext cx="11613930" cy="5097517"/>
          </a:xfrm>
        </p:spPr>
        <p:txBody>
          <a:bodyPr>
            <a:noAutofit/>
          </a:bodyPr>
          <a:lstStyle/>
          <a:p>
            <a:r>
              <a:rPr lang="pt-BR" sz="3200" dirty="0"/>
              <a:t>Podemos utilizar o modelo cascata quando um software necessita de uma nova funcionalidade e os requisitos estão bem definidos e são </a:t>
            </a:r>
            <a:r>
              <a:rPr lang="pt-BR" sz="3200" dirty="0" smtClean="0"/>
              <a:t>estáveis, uma </a:t>
            </a:r>
            <a:r>
              <a:rPr lang="pt-BR" sz="3200" dirty="0"/>
              <a:t>forma de utilizar o modelo cascata é quando precisamos fazer adaptações ou aperfeiçoamentos em um sistema já existente. </a:t>
            </a:r>
            <a:endParaRPr lang="pt-BR" sz="3200" dirty="0" smtClean="0"/>
          </a:p>
          <a:p>
            <a:r>
              <a:rPr lang="pt-BR" sz="3200" dirty="0" smtClean="0"/>
              <a:t>Por </a:t>
            </a:r>
            <a:r>
              <a:rPr lang="pt-BR" sz="3200" dirty="0"/>
              <a:t>exemplo, quando temos um sistema já pronto e precisamos fazer uma adaptação porque alguma lei governamental foi alterada ou criada. O modelo cascata também é chamado de ciclo de vida clássico ou tradicional.</a:t>
            </a:r>
          </a:p>
        </p:txBody>
      </p:sp>
    </p:spTree>
    <p:extLst>
      <p:ext uri="{BB962C8B-B14F-4D97-AF65-F5344CB8AC3E}">
        <p14:creationId xmlns:p14="http://schemas.microsoft.com/office/powerpoint/2010/main" val="2634604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rot="2335825">
            <a:off x="2754381" y="2248348"/>
            <a:ext cx="9800402" cy="1609344"/>
          </a:xfrm>
        </p:spPr>
        <p:txBody>
          <a:bodyPr>
            <a:normAutofit fontScale="90000"/>
          </a:bodyPr>
          <a:lstStyle/>
          <a:p>
            <a:pPr algn="r"/>
            <a:r>
              <a:rPr lang="pt-BR" sz="4000" dirty="0"/>
              <a:t>Este modelo sugere uma abordagem sequencial e sistemática para o desenvolvimento de software.</a:t>
            </a:r>
          </a:p>
        </p:txBody>
      </p:sp>
      <p:sp>
        <p:nvSpPr>
          <p:cNvPr id="4" name="Texto Explicativo em Seta para a Direita 3"/>
          <p:cNvSpPr/>
          <p:nvPr/>
        </p:nvSpPr>
        <p:spPr>
          <a:xfrm rot="5400000">
            <a:off x="296186" y="352829"/>
            <a:ext cx="1424154" cy="1695959"/>
          </a:xfrm>
          <a:prstGeom prst="rightArrowCallout">
            <a:avLst/>
          </a:prstGeom>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Texto Explicativo em Seta para a Direita 5"/>
          <p:cNvSpPr/>
          <p:nvPr/>
        </p:nvSpPr>
        <p:spPr>
          <a:xfrm rot="5400000">
            <a:off x="1579014" y="1345704"/>
            <a:ext cx="1424154" cy="1723368"/>
          </a:xfrm>
          <a:prstGeom prst="rightArrowCallout">
            <a:avLst/>
          </a:prstGeom>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o Explicativo em Seta para a Direita 6"/>
          <p:cNvSpPr/>
          <p:nvPr/>
        </p:nvSpPr>
        <p:spPr>
          <a:xfrm rot="5400000">
            <a:off x="2817920" y="2345287"/>
            <a:ext cx="1424154" cy="1683955"/>
          </a:xfrm>
          <a:prstGeom prst="rightArrowCallout">
            <a:avLst/>
          </a:prstGeom>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o Explicativo em Seta para a Direita 7"/>
          <p:cNvSpPr/>
          <p:nvPr/>
        </p:nvSpPr>
        <p:spPr>
          <a:xfrm rot="5400000">
            <a:off x="4017905" y="3402944"/>
            <a:ext cx="1424154" cy="1581806"/>
          </a:xfrm>
          <a:prstGeom prst="rightArrowCallout">
            <a:avLst/>
          </a:prstGeom>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exto Explicativo em Seta para a Direita 8"/>
          <p:cNvSpPr/>
          <p:nvPr/>
        </p:nvSpPr>
        <p:spPr>
          <a:xfrm rot="5400000">
            <a:off x="5210829" y="4409526"/>
            <a:ext cx="1424154" cy="1581806"/>
          </a:xfrm>
          <a:prstGeom prst="rightArrowCallout">
            <a:avLst/>
          </a:prstGeom>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o Explicativo em Seta para a Direita 9"/>
          <p:cNvSpPr/>
          <p:nvPr/>
        </p:nvSpPr>
        <p:spPr>
          <a:xfrm rot="5400000">
            <a:off x="6471088" y="5360932"/>
            <a:ext cx="1298028" cy="1534511"/>
          </a:xfrm>
          <a:prstGeom prst="rightArrowCallout">
            <a:avLst/>
          </a:prstGeom>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p:cNvSpPr txBox="1"/>
          <p:nvPr/>
        </p:nvSpPr>
        <p:spPr>
          <a:xfrm>
            <a:off x="160284" y="488731"/>
            <a:ext cx="1793268" cy="830997"/>
          </a:xfrm>
          <a:prstGeom prst="rect">
            <a:avLst/>
          </a:prstGeom>
          <a:noFill/>
        </p:spPr>
        <p:txBody>
          <a:bodyPr wrap="square" rtlCol="0">
            <a:spAutoFit/>
          </a:bodyPr>
          <a:lstStyle/>
          <a:p>
            <a:r>
              <a:rPr lang="pt-BR" sz="1600" b="1" dirty="0" smtClean="0"/>
              <a:t>Levantamento</a:t>
            </a:r>
          </a:p>
          <a:p>
            <a:r>
              <a:rPr lang="pt-BR" sz="1600" b="1" dirty="0" smtClean="0"/>
              <a:t>de requisitos </a:t>
            </a:r>
          </a:p>
          <a:p>
            <a:r>
              <a:rPr lang="pt-BR" sz="1600" b="1" dirty="0" smtClean="0"/>
              <a:t>junto ao cliente</a:t>
            </a:r>
            <a:r>
              <a:rPr lang="pt-BR" sz="1600" dirty="0" smtClean="0"/>
              <a:t>.</a:t>
            </a:r>
            <a:endParaRPr lang="pt-BR" sz="1600" dirty="0"/>
          </a:p>
        </p:txBody>
      </p:sp>
      <p:sp>
        <p:nvSpPr>
          <p:cNvPr id="12" name="CaixaDeTexto 11"/>
          <p:cNvSpPr txBox="1"/>
          <p:nvPr/>
        </p:nvSpPr>
        <p:spPr>
          <a:xfrm>
            <a:off x="1408387" y="1526660"/>
            <a:ext cx="1831335" cy="738664"/>
          </a:xfrm>
          <a:prstGeom prst="rect">
            <a:avLst/>
          </a:prstGeom>
          <a:noFill/>
        </p:spPr>
        <p:txBody>
          <a:bodyPr wrap="none" rtlCol="0">
            <a:spAutoFit/>
          </a:bodyPr>
          <a:lstStyle/>
          <a:p>
            <a:r>
              <a:rPr lang="pt-BR" sz="2400" b="1" dirty="0" smtClean="0"/>
              <a:t>Fase de </a:t>
            </a:r>
          </a:p>
          <a:p>
            <a:r>
              <a:rPr lang="pt-BR" b="1" dirty="0"/>
              <a:t>p</a:t>
            </a:r>
            <a:r>
              <a:rPr lang="pt-BR" b="1" dirty="0" smtClean="0"/>
              <a:t>lanejamento.</a:t>
            </a:r>
            <a:endParaRPr lang="pt-BR" b="1" dirty="0"/>
          </a:p>
        </p:txBody>
      </p:sp>
      <p:sp>
        <p:nvSpPr>
          <p:cNvPr id="13" name="CaixaDeTexto 12"/>
          <p:cNvSpPr txBox="1"/>
          <p:nvPr/>
        </p:nvSpPr>
        <p:spPr>
          <a:xfrm>
            <a:off x="2632465" y="2652041"/>
            <a:ext cx="1832553" cy="584775"/>
          </a:xfrm>
          <a:prstGeom prst="rect">
            <a:avLst/>
          </a:prstGeom>
          <a:noFill/>
        </p:spPr>
        <p:txBody>
          <a:bodyPr wrap="none" rtlCol="0">
            <a:spAutoFit/>
          </a:bodyPr>
          <a:lstStyle/>
          <a:p>
            <a:r>
              <a:rPr lang="pt-BR" sz="1600" b="1" dirty="0" smtClean="0"/>
              <a:t>Cronograma</a:t>
            </a:r>
            <a:r>
              <a:rPr lang="pt-BR" sz="1400" b="1" dirty="0" smtClean="0"/>
              <a:t>  e</a:t>
            </a:r>
          </a:p>
          <a:p>
            <a:r>
              <a:rPr lang="pt-BR" sz="1400" b="1" dirty="0"/>
              <a:t>a</a:t>
            </a:r>
            <a:r>
              <a:rPr lang="pt-BR" sz="1400" b="1" dirty="0" smtClean="0"/>
              <a:t>companhamento</a:t>
            </a:r>
            <a:r>
              <a:rPr lang="pt-BR" sz="1600" dirty="0" smtClean="0"/>
              <a:t>.</a:t>
            </a:r>
            <a:endParaRPr lang="pt-BR" dirty="0"/>
          </a:p>
        </p:txBody>
      </p:sp>
      <p:sp>
        <p:nvSpPr>
          <p:cNvPr id="14" name="CaixaDeTexto 13"/>
          <p:cNvSpPr txBox="1"/>
          <p:nvPr/>
        </p:nvSpPr>
        <p:spPr>
          <a:xfrm>
            <a:off x="4004489" y="3481770"/>
            <a:ext cx="1553823" cy="923330"/>
          </a:xfrm>
          <a:prstGeom prst="rect">
            <a:avLst/>
          </a:prstGeom>
          <a:noFill/>
        </p:spPr>
        <p:txBody>
          <a:bodyPr wrap="none" rtlCol="0">
            <a:spAutoFit/>
          </a:bodyPr>
          <a:lstStyle/>
          <a:p>
            <a:r>
              <a:rPr lang="pt-BR" b="1" dirty="0" smtClean="0"/>
              <a:t>Modelagem</a:t>
            </a:r>
          </a:p>
          <a:p>
            <a:r>
              <a:rPr lang="pt-BR" b="1" dirty="0" smtClean="0"/>
              <a:t>Análise</a:t>
            </a:r>
          </a:p>
          <a:p>
            <a:r>
              <a:rPr lang="pt-BR" b="1" dirty="0" smtClean="0"/>
              <a:t>Projeto </a:t>
            </a:r>
            <a:endParaRPr lang="pt-BR" b="1" dirty="0"/>
          </a:p>
        </p:txBody>
      </p:sp>
      <p:sp>
        <p:nvSpPr>
          <p:cNvPr id="15" name="CaixaDeTexto 14"/>
          <p:cNvSpPr txBox="1"/>
          <p:nvPr/>
        </p:nvSpPr>
        <p:spPr>
          <a:xfrm>
            <a:off x="5089837" y="4459777"/>
            <a:ext cx="1701107" cy="1015663"/>
          </a:xfrm>
          <a:prstGeom prst="rect">
            <a:avLst/>
          </a:prstGeom>
          <a:noFill/>
        </p:spPr>
        <p:txBody>
          <a:bodyPr wrap="none" rtlCol="0">
            <a:spAutoFit/>
          </a:bodyPr>
          <a:lstStyle/>
          <a:p>
            <a:r>
              <a:rPr lang="pt-BR" sz="2000" b="1" dirty="0" smtClean="0"/>
              <a:t>Construção</a:t>
            </a:r>
          </a:p>
          <a:p>
            <a:r>
              <a:rPr lang="pt-BR" sz="2000" b="1" dirty="0" smtClean="0"/>
              <a:t>Codificação</a:t>
            </a:r>
          </a:p>
          <a:p>
            <a:r>
              <a:rPr lang="pt-BR" sz="2000" b="1" dirty="0" smtClean="0"/>
              <a:t>Teste  </a:t>
            </a:r>
            <a:endParaRPr lang="pt-BR" sz="2000" b="1" dirty="0"/>
          </a:p>
        </p:txBody>
      </p:sp>
      <p:sp>
        <p:nvSpPr>
          <p:cNvPr id="16" name="CaixaDeTexto 15"/>
          <p:cNvSpPr txBox="1"/>
          <p:nvPr/>
        </p:nvSpPr>
        <p:spPr>
          <a:xfrm>
            <a:off x="6356555" y="5523065"/>
            <a:ext cx="1983826" cy="769441"/>
          </a:xfrm>
          <a:prstGeom prst="rect">
            <a:avLst/>
          </a:prstGeom>
          <a:noFill/>
        </p:spPr>
        <p:txBody>
          <a:bodyPr wrap="square" rtlCol="0">
            <a:spAutoFit/>
          </a:bodyPr>
          <a:lstStyle/>
          <a:p>
            <a:r>
              <a:rPr lang="pt-BR" sz="1100" b="1" dirty="0" smtClean="0"/>
              <a:t>Entrega</a:t>
            </a:r>
          </a:p>
          <a:p>
            <a:r>
              <a:rPr lang="pt-BR" sz="1100" b="1" dirty="0" smtClean="0"/>
              <a:t>Suporte e</a:t>
            </a:r>
          </a:p>
          <a:p>
            <a:r>
              <a:rPr lang="pt-BR" sz="1100" b="1" dirty="0" smtClean="0"/>
              <a:t>feedback </a:t>
            </a:r>
            <a:r>
              <a:rPr lang="pt-BR" sz="1100" b="1" dirty="0"/>
              <a:t>do </a:t>
            </a:r>
            <a:endParaRPr lang="pt-BR" sz="1100" b="1" dirty="0" smtClean="0"/>
          </a:p>
          <a:p>
            <a:r>
              <a:rPr lang="pt-BR" sz="1100" b="1" dirty="0" smtClean="0"/>
              <a:t>software </a:t>
            </a:r>
            <a:r>
              <a:rPr lang="pt-BR" sz="1100" b="1" dirty="0"/>
              <a:t>concluído.</a:t>
            </a:r>
          </a:p>
        </p:txBody>
      </p:sp>
    </p:spTree>
    <p:extLst>
      <p:ext uri="{BB962C8B-B14F-4D97-AF65-F5344CB8AC3E}">
        <p14:creationId xmlns:p14="http://schemas.microsoft.com/office/powerpoint/2010/main" val="17110128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Os principais problemas encontrados no modelo cascata são</a:t>
            </a:r>
            <a:r>
              <a:rPr lang="pt-BR" dirty="0" smtClean="0"/>
              <a:t>:</a:t>
            </a:r>
            <a:endParaRPr lang="pt-BR" dirty="0"/>
          </a:p>
        </p:txBody>
      </p:sp>
      <p:sp>
        <p:nvSpPr>
          <p:cNvPr id="3" name="Espaço Reservado para Conteúdo 2"/>
          <p:cNvSpPr>
            <a:spLocks noGrp="1"/>
          </p:cNvSpPr>
          <p:nvPr>
            <p:ph idx="1"/>
          </p:nvPr>
        </p:nvSpPr>
        <p:spPr>
          <a:xfrm>
            <a:off x="1069848" y="2569083"/>
            <a:ext cx="10058400" cy="3107817"/>
          </a:xfrm>
        </p:spPr>
        <p:txBody>
          <a:bodyPr>
            <a:normAutofit/>
          </a:bodyPr>
          <a:lstStyle/>
          <a:p>
            <a:r>
              <a:rPr lang="pt-BR" sz="2400" dirty="0"/>
              <a:t>R</a:t>
            </a:r>
            <a:r>
              <a:rPr lang="pt-BR" sz="2400" dirty="0" smtClean="0"/>
              <a:t>aramente </a:t>
            </a:r>
            <a:r>
              <a:rPr lang="pt-BR" sz="2400" dirty="0"/>
              <a:t>seguem o fluxo sequencial que o modelo prega</a:t>
            </a:r>
            <a:r>
              <a:rPr lang="pt-BR" sz="2400" dirty="0" smtClean="0"/>
              <a:t>.</a:t>
            </a:r>
          </a:p>
          <a:p>
            <a:r>
              <a:rPr lang="pt-BR" sz="2400" dirty="0"/>
              <a:t>É muito raro e difícil para o cliente saber e estabelecer explicitamente todas as suas necessidades</a:t>
            </a:r>
            <a:r>
              <a:rPr lang="pt-BR" sz="2400" dirty="0" smtClean="0"/>
              <a:t>.</a:t>
            </a:r>
          </a:p>
          <a:p>
            <a:r>
              <a:rPr lang="pt-BR" sz="2400" dirty="0"/>
              <a:t>Uma versão operacional (pronta para ser executada no cliente) não estará disponível até estarmos próximo ao final do projeto. Se tivermos um erro grave nas etapas iniciais, como uma especificação mal compreendida e mal especificada, podemos ter um resultado desastroso.</a:t>
            </a:r>
          </a:p>
        </p:txBody>
      </p:sp>
    </p:spTree>
    <p:extLst>
      <p:ext uri="{BB962C8B-B14F-4D97-AF65-F5344CB8AC3E}">
        <p14:creationId xmlns:p14="http://schemas.microsoft.com/office/powerpoint/2010/main" val="27508903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ira">
  <a:themeElements>
    <a:clrScheme name="Tipo de Madeira">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ipo de Madeira">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ipo de Madeira">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TM03090434[[fn=Tipo de Madeira]]</Template>
  <TotalTime>63</TotalTime>
  <Words>492</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9</vt:i4>
      </vt:variant>
    </vt:vector>
  </HeadingPairs>
  <TitlesOfParts>
    <vt:vector size="14" baseType="lpstr">
      <vt:lpstr>Bahnschrift</vt:lpstr>
      <vt:lpstr>Rockwell</vt:lpstr>
      <vt:lpstr>Rockwell Condensed</vt:lpstr>
      <vt:lpstr>Wingdings</vt:lpstr>
      <vt:lpstr>Tipo de Madeira</vt:lpstr>
      <vt:lpstr>MODELO DE PROCESSO  PRESCRITIVO</vt:lpstr>
      <vt:lpstr>O que seria modelo de processo prescritivo?</vt:lpstr>
      <vt:lpstr>Esses projetos são chamados de “prescritivos” porque estabelece um conjunto de elementos de processos como:</vt:lpstr>
      <vt:lpstr>Conjunto de modelos prescritivos</vt:lpstr>
      <vt:lpstr>MODELO CASCATA</vt:lpstr>
      <vt:lpstr>O que seria o modelo cascata?</vt:lpstr>
      <vt:lpstr>QUANDO É UTILIZADO?</vt:lpstr>
      <vt:lpstr>Este modelo sugere uma abordagem sequencial e sistemática para o desenvolvimento de software.</vt:lpstr>
      <vt:lpstr>Os principais problemas encontrados no modelo cascata são: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PROCESSO PRESCRITIVO</dc:title>
  <dc:creator>Lab6-02</dc:creator>
  <cp:lastModifiedBy>Lab6-02</cp:lastModifiedBy>
  <cp:revision>7</cp:revision>
  <dcterms:created xsi:type="dcterms:W3CDTF">2022-08-10T22:59:09Z</dcterms:created>
  <dcterms:modified xsi:type="dcterms:W3CDTF">2022-08-11T00:10:18Z</dcterms:modified>
</cp:coreProperties>
</file>